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31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Cadeias de Markov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Definição, propriedade markoviana e dois exemplos aplicados: previsão do tempo e genética populacional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Seminário — Probabilidade e Processos Estocásticos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uma Cadeia de Markov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processo estocástico que passa por uma sequência de estados, em que a probabilidade do próximo estado depende apenas do estado atual — não do histórico anterior.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 markoviana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 Xₙ₊₁ = j | Xₙ = i, Xₙ₋₁, ..., X₀ )  =  P( Xₙ₊₁ = j | Xₙ = i 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"Sem memória": o futuro só depende do presente.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205740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240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transição 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6517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P[i][j] = probabilidade de ir do estado i para o estado j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linha soma 1 (estocástica)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AF3F3"/>
          </a:solidFill>
          <a:ln w="12700">
            <a:solidFill>
              <a:srgbClr val="EAF3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3159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após n passos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vₙ  =  v₀ · Pⁿ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52160" y="431596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v₀ = vetor do estado inicial (linha)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Pⁿ = matriz de transição elevada a 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multiplicações de matriz sucessivas)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Usos: previsão do tempo, genética populacional, PageRank, filas, modelos de linguagem, finanças.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1 — Previsão do Tempo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Estados: Sol (A)  ·  Chuva (B)  ·  Nublado (C)      —      Terça = Sol. Qual a probabilidade de Sol na Sexta?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600200" y="1783080"/>
            <a:ext cx="1005840" cy="1005840"/>
          </a:xfrm>
          <a:prstGeom prst="ellipse">
            <a:avLst/>
          </a:prstGeom>
          <a:solidFill>
            <a:srgbClr val="E9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21214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783080"/>
            <a:ext cx="1005840" cy="1005840"/>
          </a:xfrm>
          <a:prstGeom prst="ellipse">
            <a:avLst/>
          </a:prstGeom>
          <a:solidFill>
            <a:srgbClr val="3E7CB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21214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Chuva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86600" y="1783080"/>
            <a:ext cx="1005840" cy="1005840"/>
          </a:xfrm>
          <a:prstGeom prst="ellipse">
            <a:avLst/>
          </a:prstGeom>
          <a:solidFill>
            <a:srgbClr val="8C8F9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21214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Nublado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971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estados (setas de transição omitidas — ver matriz)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52560" y="1554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transição (hipotética)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52560" y="1920240"/>
          <a:ext cx="2880360" cy="1280160"/>
        </p:xfrm>
        <a:graphic>
          <a:graphicData uri="http://schemas.openxmlformats.org/drawingml/2006/table">
            <a:tbl>
              <a:tblPr/>
              <a:tblGrid>
                <a:gridCol w="720090"/>
                <a:gridCol w="720090"/>
                <a:gridCol w="720090"/>
                <a:gridCol w="72009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Chuva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Nubl.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Chuva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Nubl.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0080" y="3657600"/>
            <a:ext cx="10881360" cy="2468880"/>
          </a:xfrm>
          <a:prstGeom prst="roundRect">
            <a:avLst>
              <a:gd name="adj" fmla="val 296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8404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Cálculo: v₀ = [1, 0, 0]  (Sol garantido na terça) — 3 passos até sexta (ter→qua→qui→sex)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425196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v₁ = v₀·P = [0.70, 0.20, 0.10]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v₂ = v₁·P = [0.57, 0.25, 0.18]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v₃ = v₂·P = [0.510, 0.268, 0.222]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223760" y="42519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52360" y="4434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P(Sol na sexta)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452360" y="4754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51,0 %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2 — Genética (autofecundação)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Estados: AA · Aa · aa      —      Gen1 = AA. Qual a probabilidade de Gen7 = Aa?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geração se autofecunda (cruza consigo mesma) — modelo clássico de Grinstead &amp; Snell.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transição (leis de Mendel)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3291840" cy="146304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1/4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1/2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1/4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297680" y="1920240"/>
            <a:ext cx="7223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21031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Ponto-chave: AA e aa são estados absorventes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0" y="251460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linha de AA na matriz é [1, 0, 0]: uma vez em AA, a cadeia permanece em AA para sempre (indivíduo homozigoto autofecundado só gera descendentes AA). O mesmo vale para aa.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977640"/>
            <a:ext cx="10881360" cy="2148840"/>
          </a:xfrm>
          <a:prstGeom prst="roundRect">
            <a:avLst>
              <a:gd name="adj" fmla="val 34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160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Cálculo: v₀ = [1, 0, 0]  (AA na Gen1) — 6 passos até a Gen7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4572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v₁ = v₀·P = [1, 0, 0]   →   v₂ = v₃ = ... = v₆ = [1, 0, 0]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o estado AA é absorvente, a linha [1,0,0] se repete em todas as gerações seguintes.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544068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544068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P(Gen7 = Aa | Gen1 = AA)  =  0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Implementação em 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bibliotecas básicas (stdio.h) — multiplicação de vetor por matriz repetida n vezes.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709160"/>
          </a:xfrm>
          <a:prstGeom prst="roundRect">
            <a:avLst>
              <a:gd name="adj" fmla="val 116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vetor_vezes_matriz(double v[N], double P[N][N], double out[N])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N; j++)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out[j] = 0.0;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N; i++)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out[j] += v[i] * P[i][j];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markov(double v0[N], double P[N][N], int passos, int estado_alvo)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atual[N], prox[N];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N; i++) atual[i] = v0[i];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p = 0; p &lt; passos; p++)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vetor_vezes_matriz(atual, P, prox);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N; i++) atual[i] = prox[i];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atual[estado_alvo];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clima: markov(v0={1,0,0}, P, 3, /*Sol*/ 0)      -&gt; 0.510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genetica: markov(v0={1,0,0}, P, 6, /*Aa*/ 1)    -&gt; 0.000  */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19072"/>
            <a:ext cx="109728" cy="1097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087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futuro depende só do presente — não é preciso guardar todo o histórico.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770632"/>
            <a:ext cx="109728" cy="1097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560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matriz de transição é sempre um dado de entrada (observada, definida por regra biológica/física, ou fornecida no enunciado).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822192"/>
            <a:ext cx="109728" cy="1097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6118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absorventes (como AA e aa) "prendem" a cadeia — uma vez neles, não há retorno.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873752"/>
            <a:ext cx="109728" cy="1097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6634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ferramenta matemática serve para clima, genética, buscadores (PageRank), filas e muito mais.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2026-08-11T00:29:38Z</dcterms:created>
  <dcterms:modified xsi:type="dcterms:W3CDTF">2026-08-11T00:29:38Z</dcterms:modified>
</cp:coreProperties>
</file>